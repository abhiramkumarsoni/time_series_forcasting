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48000" cy="1097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8000" y="0"/>
            <a:ext cx="304800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3048000" cy="10972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Retail Sales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  <a:latin typeface="Calibri"/>
              </a:rPr>
              <a:t>End-to-End Time Series ML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240280"/>
            <a:ext cx="2743200" cy="36576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Calibri"/>
              </a:rPr>
              <a:t>ARIMA  ·  Prophet  ·  XGBoost  ·  LSTM  ·  Streamlit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114800"/>
            <a:ext cx="3291840" cy="5029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41422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Data Science  |  Statistical Modelling  | 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Why does accurate forecasting matter in retail?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0233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4023360" cy="28712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📉  Under-Forecast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3749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Stockouts — shelves run empty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Lost revenue &amp; lost customers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Poor service-level agreements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Emergency replenishment at premium cost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Brand reputation damage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914400"/>
            <a:ext cx="40233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0" y="969264"/>
            <a:ext cx="4023360" cy="28712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0058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📈  Over-Forecast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325880"/>
            <a:ext cx="3749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Excess inventory ties up working capital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Holding cost: 20–30% of value per year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Warehouse space constraints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Forced markdowns erode margins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  <a:latin typeface="Calibri"/>
              </a:rPr>
              <a:t>• Waste for perishable goods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96"/>
                </a:solidFill>
                <a:latin typeface="Calibri"/>
              </a:rPr>
              <a:t>✅
Optimal
Forecast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325058-8DBA-9C1C-6078-7BE5E81B8D8E}"/>
              </a:ext>
            </a:extLst>
          </p:cNvPr>
          <p:cNvSpPr txBox="1"/>
          <p:nvPr/>
        </p:nvSpPr>
        <p:spPr>
          <a:xfrm>
            <a:off x="411480" y="4071248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1" dirty="0">
                <a:solidFill>
                  <a:srgbClr val="CCCCCC"/>
                </a:solidFill>
                <a:effectLst/>
                <a:latin typeface="Segoe WPC"/>
              </a:rPr>
              <a:t>I built a Retail Sales Forecasting system. The core business problem is this: retailers lose money both ways — if they under-forecast, they run out of stock and lose sales. If they over-forecast, they tie up capital in unsold inventory. A good forecast directly reduces both risks.</a:t>
            </a:r>
            <a:endParaRPr lang="en-I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End-to-end modular ML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417320" cy="1463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📥
Data
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916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188720"/>
            <a:ext cx="1417320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18872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🔧
Pre-
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188720"/>
            <a:ext cx="1417320" cy="1463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18872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⚙️
Feature
Engg.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188720"/>
            <a:ext cx="1417320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118872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🤖
Model
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69164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188720"/>
            <a:ext cx="1417320" cy="1463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188720"/>
            <a:ext cx="1417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📊
Stream-
lit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90A8"/>
                </a:solidFill>
                <a:latin typeface="Calibri"/>
              </a:rPr>
              <a:t>data_loader.py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90A8"/>
                </a:solidFill>
                <a:latin typeface="Calibri"/>
              </a:rPr>
              <a:t>preprocessing.py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90A8"/>
                </a:solidFill>
                <a:latin typeface="Calibri"/>
              </a:rPr>
              <a:t>feature_engineering.py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90A8"/>
                </a:solidFill>
                <a:latin typeface="Calibri"/>
              </a:rPr>
              <a:t>trainer.py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890A8"/>
                </a:solidFill>
                <a:latin typeface="Calibri"/>
              </a:rPr>
              <a:t>streamlit_app/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890A8"/>
                </a:solidFill>
                <a:latin typeface="Calibri"/>
              </a:rPr>
              <a:t>All modules follow Single Responsibility Principle · Shared config.py for all hyperparameters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&amp;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9436" y="4587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4 years · 1,461 daily observations · No external download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2743200" cy="29626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  <a:latin typeface="Calibri"/>
              </a:rPr>
              <a:t>📊  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2468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4 years of daily sales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Upward trend (+0.05/day)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Weekend uplift (+25 units)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Holiday season boost (+40)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Gaussian noise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Random promo spikes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969264"/>
            <a:ext cx="2743200" cy="29626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🔧  Preprocessing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25880"/>
            <a:ext cx="2468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Full date range reindex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Time-based interpolation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IQR × 3 outlier clipping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Chronological 80/20 split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MinMaxScaler (fit on train only)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⚠️  No data leakage!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969264"/>
            <a:ext cx="2743200" cy="29626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005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🔑  Why Chron. Split?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2468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Random split = data leakage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Test set must be in future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Scaler fit on train only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Simulates real deployment: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  train on past, predict future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Same logic as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120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Creating temporal context for tree-based and ML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Business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lag_1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Sales.shift(1)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Yesterday's sales — momentum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09928"/>
            <a:ext cx="8595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lag_7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Sales.shift(7)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Same weekday last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93976"/>
            <a:ext cx="8595360" cy="384048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139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lag_14 / lag_30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39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Sales.shift(14/30)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39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Bi-weekly &amp; monthly 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78024"/>
            <a:ext cx="8595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rolling_mean_7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.shift(1).rolling(7).mean()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237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7-day smoothed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62072"/>
            <a:ext cx="8595360" cy="384048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907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rolling_std_14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907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.shift(1).rolling(14).std()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0779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Volatility / uncertainty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46120"/>
            <a:ext cx="85953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3291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is_weekend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291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dayofweek &gt;=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918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Sat/Sun sales uplift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30168"/>
            <a:ext cx="8595360" cy="384048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is_holiday_season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  <a:latin typeface="Calibri"/>
              </a:rPr>
              <a:t>month in [11, 12]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6758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Black Friday / Christmas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8C00"/>
                </a:solidFill>
                <a:latin typeface="Calibri"/>
              </a:rPr>
              <a:t>⚠️  .shift(1) before rolling prevents look-ahead leakage — future values never touch the model during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Four Models — Four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7" y="4827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Why compare? Each model solves a different aspect of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574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2057400" cy="34198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  <a:latin typeface="Calibri"/>
              </a:rPr>
              <a:t>📐  ARIMA (5,1,2)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1783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Statistical baseline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Interpretable &amp; fast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Needs stationary series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Best: short data, explainability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Output: confidence intervals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914400"/>
            <a:ext cx="2057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87168" y="969264"/>
            <a:ext cx="2057400" cy="34198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7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🔮  Prophet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7" y="1325880"/>
            <a:ext cx="1783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Additive decomposition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Handles seasonality auto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Built-in holiday effects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Best: business reporting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Output: trend + seasonal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6" y="914400"/>
            <a:ext cx="20574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0016" y="969264"/>
            <a:ext cx="2057400" cy="34198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7176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  <a:latin typeface="Calibri"/>
              </a:rPr>
              <a:t>🌲  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325880"/>
            <a:ext cx="1783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Tree-based, row-independent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Needs lag features explicitly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Fast &amp; highly accurate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Best: large datasets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Output: point forecast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914400"/>
            <a:ext cx="20574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12864" y="969264"/>
            <a:ext cx="2057400" cy="341985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0024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🧠  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1325880"/>
            <a:ext cx="1783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Deep learning, sequential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Look-back window = 30 days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Learns non-linear patterns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Best: complex long series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B0C4DE"/>
                </a:solidFill>
                <a:latin typeface="Calibri"/>
              </a:rPr>
              <a:t>Output: sequence prediction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6360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96"/>
                </a:solidFill>
                <a:latin typeface="Calibri"/>
              </a:rPr>
              <a:t>✅  All models share the same interface:  fit()  ·  predict()  ·  save()  ·  load()   → Strategy Design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ARIMA Deep Dive  —  ARIMA(5, 1,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2158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The mathematical foundation of classical time series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 = 5
Auto-Regressive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Today depends on the last 5 days.
The model learns weights for Y(t-1) … Y(t-5)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7432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914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 = 1
Integrated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Apply first-order differencing.
Y'(t) = Y(t) - Y(t-1)  →  removes the trend.
Verified via ADF Test (p-value &lt; 0.05)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 = 2
Moving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600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Uses past 2 forecast errors
ε(t-1) and ε(t-2) to correct predictions.
Makes model self-correcting.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Model Diagnostics — How We Know It 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27432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657600"/>
            <a:ext cx="2743200" cy="10058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  <a:latin typeface="Calibri"/>
              </a:rPr>
              <a:t>ADF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p-value &lt; 0.05 → Series is stationary after d=1 differencing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61188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46120" y="3657600"/>
            <a:ext cx="2743200" cy="10058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Ljung-Box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p-value &gt; 0.05 → Residuals are white noise (no pattern left)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11880"/>
            <a:ext cx="27432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657600"/>
            <a:ext cx="2743200" cy="10058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  <a:latin typeface="Calibri"/>
              </a:rPr>
              <a:t>ACF / PACF Plots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005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PACF cuts at lag 5 → p=5.  ACF cuts at lag 2 → q=2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SARIMA Seasonal Order  —  (1, 1, 1,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26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Adding weekly seasonality to capture weekend uplift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 = 1
Seasonal AR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54480"/>
            <a:ext cx="201168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Depends on sales from
exactly 7 days ago (same weekday).
Yesterday's Monday predicts today's Monday.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914400"/>
            <a:ext cx="201168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1448" y="914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 = 1
Seasonal 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554480"/>
            <a:ext cx="201168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2888" y="1645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Seasonal differencing:
Y'(t) = Y(t) - Y(t-7)
Removes the repeating weekly pattern.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4296" y="914400"/>
            <a:ext cx="2011680" cy="6400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914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 = 1
Seasonal 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554480"/>
            <a:ext cx="201168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45736" y="1645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Uses forecast error from
7 days ago to self-correct
weekly prediction bias.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7144" y="914400"/>
            <a:ext cx="201168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914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 = 7
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7144" y="1554480"/>
            <a:ext cx="2011680" cy="14630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8583" y="1645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  <a:latin typeface="Calibri"/>
              </a:rPr>
              <a:t>The seasonal cycle = 7 days.
Captures Mon–Sun weekly
sales rhythm in retail.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85953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📊  Why s=7 Makes Business Sense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Retail sales exhibit strong weekly cycles — weekends (Sat/Sun) consistently outperform weekdays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SARIMA with s=7 directly models this rhythm without needing explicit 'is_weekend' feature (unlike XGBoost)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• The seasonal differencing (D=1) removes the weekly pattern so the non-seasonal part (p,d,q) models the residual trend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0C4DE"/>
                </a:solidFill>
                <a:latin typeface="Calibri"/>
              </a:rPr>
              <a:t>How we measure forecast quality — and why each metric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57400" cy="5029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057400" cy="30632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D8"/>
                </a:solidFill>
                <a:latin typeface="Calibri"/>
              </a:rPr>
              <a:t>Root Mean Squared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Penalises large errors heavily.
Use for model selection &amp; training.
Directly linked to safety stock calculation.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1874519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410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8BD8"/>
                </a:solidFill>
                <a:latin typeface="Calibri"/>
              </a:rPr>
              <a:t>σ_error ≈ 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914400"/>
            <a:ext cx="205740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9144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1417320"/>
            <a:ext cx="2057400" cy="30632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78608" y="14630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Mean Absolute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82880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Average absolute deviation.
More robust to outliers than RMSE.
Easy to interpret in same units as sales.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3337560"/>
            <a:ext cx="1874519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3410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D4FF"/>
                </a:solidFill>
                <a:latin typeface="Calibri"/>
              </a:rPr>
              <a:t>avg |actual - predicted|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016" y="914400"/>
            <a:ext cx="205740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9144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0016" y="1417320"/>
            <a:ext cx="2057400" cy="30632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91455" y="14630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  <a:latin typeface="Calibri"/>
              </a:rPr>
              <a:t>Mean Abs %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5" y="182880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Express error as a percentage.
Easy for business stakeholders.
'Our forecast is off by X% on average'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1455" y="3337560"/>
            <a:ext cx="1874519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91455" y="3410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E596"/>
                </a:solidFill>
                <a:latin typeface="Calibri"/>
              </a:rPr>
              <a:t>∑|actual-pred|/actual × 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914400"/>
            <a:ext cx="205740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2864" y="9144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2864" y="1417320"/>
            <a:ext cx="2057400" cy="306324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04303" y="146304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Coefficient of Determination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3" y="1828800"/>
            <a:ext cx="18745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% variance explained by model.
R²=0.95 → model explains 95%.
Can be misleading alone in 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4303" y="3337560"/>
            <a:ext cx="1874519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04303" y="341071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8C00"/>
                </a:solidFill>
                <a:latin typeface="Calibri"/>
              </a:rPr>
              <a:t>1 − SS_res/SS_tot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859536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96"/>
                </a:solidFill>
                <a:latin typeface="Calibri"/>
              </a:rPr>
              <a:t>💡  Safety Stock = Z × √(Lead Time) × RMSE   →   Lower RMSE = less safety stock = freed working capital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57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Built with Streamlit — 4 pages, zero-config, runs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574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2057400" cy="346557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  <a:latin typeface="Calibri"/>
              </a:rPr>
              <a:t>🏠 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KPI cards: Mean, Min, Max, Date range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Interactive date range filter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Full 4-year time series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914400"/>
            <a:ext cx="2057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87168" y="969264"/>
            <a:ext cx="2057400" cy="346557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7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📊 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7" y="13258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4 tabs: Seasonal, Monthly, Decomposition, Heatmap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Trend + seasonal + residual decomposition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Correlation heatmap of all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6" y="914400"/>
            <a:ext cx="20574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0016" y="969264"/>
            <a:ext cx="2057400" cy="346557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7176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  <a:latin typeface="Calibri"/>
              </a:rPr>
              <a:t>🔮 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3258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Choose model + forecast horizon (slider)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Trains model live, shows 95% CI band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Download forecast as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914400"/>
            <a:ext cx="20574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12864" y="969264"/>
            <a:ext cx="2057400" cy="346557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0024" y="1005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📈  Model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132588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Trains all 4 models simultaneously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Metrics table with best highlighted in green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Overlay chart of all 4 forecasts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0E596"/>
                </a:solidFill>
                <a:latin typeface="Calibri"/>
              </a:rPr>
              <a:t>▶  streamlit run streamlit_app/Home.py   →   Opens at  http://localhost:8501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5074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0C4DE"/>
                </a:solidFill>
                <a:latin typeface="Calibri"/>
              </a:rPr>
              <a:t>Production-quality code — not just a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4114800" cy="19568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🧪  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pytest with 25+ test cases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test_models.py: fit/predict/save/load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test_metrics.py: RMSE, MAE, MAPE, R²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conftest.py for shared fixtures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1148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69264"/>
            <a:ext cx="4114800" cy="19568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  <a:latin typeface="Calibri"/>
              </a:rPr>
              <a:t>🐳 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258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Dockerfile using python:3.11-slim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docker-compose.yml for one-command launch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Health check endpoint included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docker-compose up --build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41148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118104"/>
            <a:ext cx="4114800" cy="19568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  <a:latin typeface="Calibri"/>
              </a:rPr>
              <a:t>⚙️  CI/CD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747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GitHub Actions workflow on push to main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Runs ruff (linting) + black (formatting)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Runs full pytest suite with coverage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Tests on Python 3.10 and 3.11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3063240"/>
            <a:ext cx="4114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59" y="3118104"/>
            <a:ext cx="4114800" cy="1956816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Calibri"/>
              </a:rPr>
              <a:t>📁  Project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747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src/ — 9 modular Python files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src/models/ — 4 model classes + trainer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config.py — single source of truth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4DE"/>
                </a:solidFill>
                <a:latin typeface="Calibri"/>
              </a:rPr>
              <a:t>Makefile for one-command 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Impact &amp; Real-World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0C4DE"/>
                </a:solidFill>
                <a:latin typeface="Calibri"/>
              </a:rPr>
              <a:t>Translating model metrics into rupees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  <a:latin typeface="Calibri"/>
              </a:rPr>
              <a:t>Every 1-unit reduction in RMSE directly translates to reduced safety stock requirements: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96"/>
                </a:solidFill>
                <a:latin typeface="Calibri"/>
              </a:rPr>
              <a:t>Safety Stock  =  Z  ×  √(Lead Time)  ×  σ_error    where  σ_error  ≈  RMSE of validation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2057400" cy="82296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10–15%
Reduction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54680"/>
            <a:ext cx="2057400" cy="109728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in safety stock when switching
from naive baseline to XGBoost/Prophet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8" y="2331720"/>
            <a:ext cx="205740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23317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20–30%
Holding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3154680"/>
            <a:ext cx="2057400" cy="109728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78608" y="3200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of inventory value spent annually
on warehousing — directly reduced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0016" y="2331720"/>
            <a:ext cx="2057400" cy="8229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0016" y="23317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95%
Service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016" y="3154680"/>
            <a:ext cx="2057400" cy="109728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91455" y="3200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maintained with lower stock
using Z=1.65 safety factor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12864" y="2331720"/>
            <a:ext cx="2057400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2864" y="233172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 Dashboard
for All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864" y="3154680"/>
            <a:ext cx="2057400" cy="1097280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04303" y="3200400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  <a:latin typeface="Calibri"/>
              </a:rPr>
              <a:t>Operations, Finance, Supply Chain
use the same forecast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8C00"/>
                </a:solidFill>
                <a:latin typeface="Calibri"/>
              </a:rPr>
              <a:t>This project demonstrates that a data scientist must speak the language of business, not just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Improvements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79" y="5257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Demonstrating forward thinking — always impress interviewers with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9264"/>
            <a:ext cx="4114800" cy="1911095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  <a:latin typeface="Calibri"/>
              </a:rPr>
              <a:t>🔍  Optuna Hyperparameter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3840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Auto-search best ARIMA orders (p,d,q)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XGBoost: n_estimators, learning_rate, max_depth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LSTM: units, look_back, batch_size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Uses Bayesian optimisation (faster than grid search)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11480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69264"/>
            <a:ext cx="4114800" cy="1911095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  <a:latin typeface="Calibri"/>
              </a:rPr>
              <a:t>📦  MLflow Experiment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325880"/>
            <a:ext cx="3840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Log every training run: params + metrics + model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Compare runs in a visual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Register and version production models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One-click model rollback if performance degrades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41148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118104"/>
            <a:ext cx="4114800" cy="1911095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Calibri"/>
              </a:rPr>
              <a:t>🤝  Ensemble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74720"/>
            <a:ext cx="3840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Combine all 4 forecasts using weighted average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Or train a meta-learner (stacking)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Ensembles almost always outperform individual models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Reduce variance across model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3063240"/>
            <a:ext cx="41148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59" y="3118104"/>
            <a:ext cx="4114800" cy="1911095"/>
          </a:xfrm>
          <a:prstGeom prst="rect">
            <a:avLst/>
          </a:prstGeom>
          <a:solidFill>
            <a:srgbClr val="11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  <a:latin typeface="Calibri"/>
              </a:rPr>
              <a:t>⚡  Real-Time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74720"/>
            <a:ext cx="38404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Apache Kafka or AWS Kinesis for live data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Online learning: update model as new sales arrive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Alerts when distribution shifts (drift detection)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B0C4DE"/>
                </a:solidFill>
                <a:latin typeface="Calibri"/>
              </a:rPr>
              <a:t>FastAPI endpoint for serving predictions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3048000" cy="1143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8000" y="5029200"/>
            <a:ext cx="3048000" cy="1143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0" y="5029200"/>
            <a:ext cx="3048000" cy="1143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00200"/>
            <a:ext cx="274320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D4FF"/>
                </a:solidFill>
                <a:latin typeface="Calibri"/>
              </a:rPr>
              <a:t>Retail Sales Forecasting  |  End-to-End Time Series ML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B0C4DE"/>
                </a:solidFill>
                <a:latin typeface="Calibri"/>
              </a:rPr>
              <a:t>✅  4-Year Daily Sales Dataset (1,461 data points)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B0C4DE"/>
                </a:solidFill>
                <a:latin typeface="Calibri"/>
              </a:rPr>
              <a:t>✅  Full Preprocessing Pipeline  (interpolation · outlier clipping · no leakage)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B0C4DE"/>
                </a:solidFill>
                <a:latin typeface="Calibri"/>
              </a:rPr>
              <a:t>✅  4 Models Compared  (ARIMA · Prophet · XGBoost · LSTM)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B0C4DE"/>
                </a:solidFill>
                <a:latin typeface="Calibri"/>
              </a:rPr>
              <a:t>✅  Interactive Streamlit Dashboard  (Home · EDA · Forecast · Model Comparison)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B0C4DE"/>
                </a:solidFill>
                <a:latin typeface="Calibri"/>
              </a:rPr>
              <a:t>✅  Production-Ready  (pytest · Docker · GitHub Actions CI)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96"/>
                </a:solidFill>
                <a:latin typeface="Calibri"/>
              </a:rPr>
              <a:t>Questions Welcome 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1787</Words>
  <Application>Microsoft Office PowerPoint</Application>
  <PresentationFormat>On-screen Show (16:9)</PresentationFormat>
  <Paragraphs>246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abhiram soni</cp:lastModifiedBy>
  <cp:revision>2</cp:revision>
  <dcterms:created xsi:type="dcterms:W3CDTF">2013-01-27T09:14:16Z</dcterms:created>
  <dcterms:modified xsi:type="dcterms:W3CDTF">2026-06-22T11:59:01Z</dcterms:modified>
  <cp:category/>
</cp:coreProperties>
</file>